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4206240"/>
            <a:ext cx="4754880" cy="475488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4FAF8"/>
                </a:solidFill>
                <a:latin typeface="Calibri"/>
              </a:rPr>
              <a:t>AC9 YEARS 7–10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658368"/>
            <a:ext cx="1869948" cy="310896"/>
          </a:xfrm>
          <a:prstGeom prst="roundRect">
            <a:avLst>
              <a:gd name="adj" fmla="val 50000"/>
            </a:avLst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4FAF8"/>
                </a:solidFill>
                <a:latin typeface="Calibri"/>
              </a:rPr>
              <a:t>QCAA SENIOR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932688"/>
            <a:ext cx="1339595" cy="310896"/>
          </a:xfrm>
          <a:prstGeom prst="roundRect">
            <a:avLst>
              <a:gd name="adj" fmla="val 50000"/>
            </a:avLst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4FAF8"/>
                </a:solidFill>
                <a:latin typeface="Calibri"/>
              </a:rPr>
              <a:t>PHYSICS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685800"/>
            <a:ext cx="1604772" cy="310896"/>
          </a:xfrm>
          <a:prstGeom prst="roundRect">
            <a:avLst>
              <a:gd name="adj" fmla="val 50000"/>
            </a:avLst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4FAF8"/>
                </a:solidFill>
                <a:latin typeface="Calibri"/>
              </a:rPr>
              <a:t>CHEMISTRY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960120"/>
            <a:ext cx="1339595" cy="310896"/>
          </a:xfrm>
          <a:prstGeom prst="roundRect">
            <a:avLst>
              <a:gd name="adj" fmla="val 50000"/>
            </a:avLst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F4FAF8"/>
                </a:solidFill>
                <a:latin typeface="Calibri"/>
              </a:rPr>
              <a:t>BIOLOGY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A623"/>
                </a:solidFill>
                <a:latin typeface="Calibri"/>
              </a:rPr>
              <a:t>STEM SIMULATION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Free STEM Simulations,</a:t>
            </a:r>
          </a:p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Mapped to Your Curriculum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E7F4F1"/>
                </a:solidFill>
                <a:latin typeface="Calibri"/>
              </a:rPr>
              <a:t>93 simulations · 176 AC9 descriptors · 66 QCAA senior units — one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FD4CC"/>
                </a:solidFill>
                <a:latin typeface="Calibri"/>
              </a:rPr>
              <a:t>Staff Presentation · 30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5943600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0B2E2A"/>
                </a:solidFill>
                <a:latin typeface="Calibri"/>
              </a:rPr>
              <a:t>BUILT WITH CLAUDE CODE · ONGOING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BEFORE THE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F3D38"/>
                </a:solidFill>
                <a:latin typeface="Cambria"/>
              </a:rPr>
              <a:t>How This Actually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B6B68"/>
                </a:solidFill>
                <a:latin typeface="Calibri"/>
              </a:rPr>
              <a:t>It wasn’t planned as a website — it grew, one frustration at a 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96112" y="2121408"/>
            <a:ext cx="36576" cy="306324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55648"/>
            <a:ext cx="365760" cy="36576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719072"/>
            <a:ext cx="10040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D38"/>
                </a:solidFill>
                <a:latin typeface="Calibri"/>
              </a:rPr>
              <a:t>Finding simulations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975104"/>
            <a:ext cx="10040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5B6B68"/>
                </a:solidFill>
                <a:latin typeface="Calibri"/>
              </a:rPr>
              <a:t>Started as a simple task — shortlist a handful of free simulations worth using in this presentation.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747772"/>
            <a:ext cx="36576" cy="306324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2382012"/>
            <a:ext cx="365760" cy="36576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345436"/>
            <a:ext cx="10040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D38"/>
                </a:solidFill>
                <a:latin typeface="Calibri"/>
              </a:rPr>
              <a:t>Mapping to the curriculum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601468"/>
            <a:ext cx="10040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5B6B68"/>
                </a:solidFill>
                <a:latin typeface="Calibri"/>
              </a:rPr>
              <a:t>Kept going: matched each one to the exact AC9 content descriptor it actually covered, tracked in a spreadsheet.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374136"/>
            <a:ext cx="36576" cy="306324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3008376"/>
            <a:ext cx="365760" cy="36576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71800"/>
            <a:ext cx="10040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D38"/>
                </a:solidFill>
                <a:latin typeface="Calibri"/>
              </a:rPr>
              <a:t>Spreadsheet → website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227832"/>
            <a:ext cx="10040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5B6B68"/>
                </a:solidFill>
                <a:latin typeface="Calibri"/>
              </a:rPr>
              <a:t>Hundreds of rows deep, tedious to update and no way to browse — not something anyone would want to search through. It needed to be a website.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4000500"/>
            <a:ext cx="36576" cy="306324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634740"/>
            <a:ext cx="365760" cy="36576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598164"/>
            <a:ext cx="10040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D38"/>
                </a:solidFill>
                <a:latin typeface="Calibri"/>
              </a:rPr>
              <a:t>Simulations alone weren’t enough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854196"/>
            <a:ext cx="10040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5B6B68"/>
                </a:solidFill>
                <a:latin typeface="Calibri"/>
              </a:rPr>
              <a:t>A matched simulation still wasn’t something you could hand a class — so a worksheet became part of every listing.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4626864"/>
            <a:ext cx="36576" cy="306324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261104"/>
            <a:ext cx="365760" cy="36576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224528"/>
            <a:ext cx="10040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D38"/>
                </a:solidFill>
                <a:latin typeface="Calibri"/>
              </a:rPr>
              <a:t>Not every simulation had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4168" y="4480560"/>
            <a:ext cx="10040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5B6B68"/>
                </a:solidFill>
                <a:latin typeface="Calibri"/>
              </a:rPr>
              <a:t>Missing worksheets were generated — curriculum-mapped, sized to a lesson, clearly labelled as AI-made.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4887468"/>
            <a:ext cx="365760" cy="36576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4850892"/>
            <a:ext cx="10040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3D38"/>
                </a:solidFill>
                <a:latin typeface="Calibri"/>
              </a:rPr>
              <a:t>Some descriptors had no simulation at 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06924"/>
            <a:ext cx="10040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5B6B68"/>
                </a:solidFill>
                <a:latin typeface="Calibri"/>
              </a:rPr>
              <a:t>Where nothing good existed anywhere online, four were built from scratch to fill the gap.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559552"/>
            <a:ext cx="10881360" cy="68580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3328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And here we are — a curriculum-mapped hub with 93 simulations, 176 AC9 descriptors and 66 QCAA units. Still evolving the same way it started: one gap at a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3D38"/>
                </a:solidFill>
                <a:latin typeface="Cambria"/>
              </a:rPr>
              <a:t>Finding a good, curriculum-matched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3D38"/>
                </a:solidFill>
                <a:latin typeface="Cambria"/>
              </a:rPr>
              <a:t>simulation takes too long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2167128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2E2A"/>
                </a:solidFill>
                <a:latin typeface="Cambria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13055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Hours of searching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478024"/>
            <a:ext cx="4069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PhET, GeoGebra, Desmos, Javalab, university labs — good simulations are scattered across dozens of separate sites.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584448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2E2A"/>
                </a:solidFill>
                <a:latin typeface="Cambria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54787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No curriculum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895344"/>
            <a:ext cx="4069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A simulation being “good physics” doesn’t tell you which AC9 content descriptor or QCAA unit it actually satisfies.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00600"/>
            <a:ext cx="5120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5001768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2E2A"/>
                </a:solidFill>
                <a:latin typeface="Cambria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965192"/>
            <a:ext cx="4069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Uneven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312664"/>
            <a:ext cx="40690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Some sims are excellent, some are broken, outdated, or the wrong year level — hard to tell without trying each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965960"/>
            <a:ext cx="5212080" cy="42519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37744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FFFFF"/>
                </a:solidFill>
                <a:latin typeface="Cambria"/>
              </a:rPr>
              <a:t>“I just want to know—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862072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5A623"/>
                </a:solidFill>
                <a:latin typeface="Cambria"/>
              </a:rPr>
              <a:t>which simulation covers</a:t>
            </a:r>
          </a:p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5A623"/>
                </a:solidFill>
                <a:latin typeface="Cambria"/>
              </a:rPr>
              <a:t>this exact content</a:t>
            </a:r>
          </a:p>
          <a:p>
            <a:pPr algn="l">
              <a:lnSpc>
                <a:spcPct val="108000"/>
              </a:lnSpc>
            </a:pPr>
            <a:r>
              <a:rPr sz="2200" b="1" i="0">
                <a:solidFill>
                  <a:srgbClr val="F5A623"/>
                </a:solidFill>
                <a:latin typeface="Cambria"/>
              </a:rPr>
              <a:t>descriptor, right now.”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48056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FD4CC"/>
                </a:solidFill>
                <a:latin typeface="Calibri"/>
              </a:rPr>
              <a:t>— every teacher, ever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5029200"/>
            <a:ext cx="4389120" cy="18288"/>
          </a:xfrm>
          <a:prstGeom prst="rect">
            <a:avLst/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5212080"/>
            <a:ext cx="4389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7F4F1"/>
                </a:solidFill>
                <a:latin typeface="Calibri"/>
              </a:rPr>
              <a:t>STEM Simulation Hub answers that directly — search or browse by the curriculum itself, not by guesswork.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3D38"/>
                </a:solidFill>
                <a:latin typeface="Cambria"/>
              </a:rPr>
              <a:t>One Hub, Mapped Directly to What You Already Teach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68"/>
                </a:solidFill>
                <a:latin typeface="Calibri"/>
              </a:rPr>
              <a:t>Not tagged by subject — mapped to the exact descriptors and units on your work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443484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AC9 · YEARS 7–10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31136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3D38"/>
                </a:solidFill>
                <a:latin typeface="Cambria"/>
              </a:rP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950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content descriptors, Year 7 through Year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Mathematics — 101 descriptors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116860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Measurement 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4443" y="3566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Algebra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34563" y="3566160"/>
            <a:ext cx="109362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Statistics 17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9625" y="3566160"/>
            <a:ext cx="79369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Number 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31920"/>
            <a:ext cx="71871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Space 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24558" y="3931920"/>
            <a:ext cx="1168603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Probability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Science — 75 descriptors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626864"/>
            <a:ext cx="146852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Science Inquiry 32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74366" y="4626864"/>
            <a:ext cx="131856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Understanding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4370" y="4626864"/>
            <a:ext cx="146852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Human Endeavour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4748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B68"/>
                </a:solidFill>
                <a:latin typeface="Calibri"/>
              </a:rPr>
              <a:t>Every strand, every year level — not just the popular topics.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737360"/>
            <a:ext cx="5349240" cy="443484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938528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QCAA · SENIOR 11–12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31136"/>
            <a:ext cx="20116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0F3D38"/>
                </a:solidFill>
                <a:latin typeface="Cambria"/>
              </a:rPr>
              <a:t>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8950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syllabus units &amp; options, across 15 subjects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273552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Mathematics — 5 subjects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566160"/>
            <a:ext cx="109362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General Maths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1582" y="3566160"/>
            <a:ext cx="643737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Methods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59" y="35661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Specialist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79" y="3566160"/>
            <a:ext cx="79369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Essential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2018" y="3566160"/>
            <a:ext cx="71871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0">
                <a:solidFill>
                  <a:srgbClr val="0F3D38"/>
                </a:solidFill>
                <a:latin typeface="Calibri"/>
              </a:rPr>
              <a:t>Numeracy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96849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Science — 10 subjects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4261104"/>
            <a:ext cx="64373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Biology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81697" y="4261104"/>
            <a:ext cx="79369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Chemistry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6836" y="4261104"/>
            <a:ext cx="64373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Physics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02013" y="42611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Psychology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62133" y="4261104"/>
            <a:ext cx="1168603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Marine Science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6520" y="4608576"/>
            <a:ext cx="1618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Earth &amp; Env. Science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6448" y="4608576"/>
            <a:ext cx="161848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Agricultural Science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46520" y="4956048"/>
            <a:ext cx="1768449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Agricultural Practices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06409" y="4956048"/>
            <a:ext cx="1393545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Aquatic Practices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46520" y="5303520"/>
            <a:ext cx="154350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0">
                <a:solidFill>
                  <a:srgbClr val="0F3D38"/>
                </a:solidFill>
                <a:latin typeface="Calibri"/>
              </a:rPr>
              <a:t>Science in Practice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87568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B6B68"/>
                </a:solidFill>
                <a:latin typeface="Calibri"/>
              </a:rPr>
              <a:t>General, Applied and Short Course syllabuses all included.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WHAT THIS LOOKS LIKE FOR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0F3D38"/>
                </a:solidFill>
                <a:latin typeface="Cambria"/>
              </a:rPr>
              <a:t>From Curriculum Code to Classroom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68"/>
                </a:solidFill>
                <a:latin typeface="Calibri"/>
              </a:rPr>
              <a:t>A real descriptor, followed all the way through to a lesson you could teach tomorrow.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98932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93852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AC9M10M03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93852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68"/>
                </a:solidFill>
                <a:latin typeface="Calibri"/>
              </a:rPr>
              <a:t>Year 10 · Measurement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40864"/>
            <a:ext cx="5532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F1B19"/>
                </a:solidFill>
                <a:latin typeface="Calibri"/>
              </a:rPr>
              <a:t>“Solve practical problems applying Pythagoras’ theorem and trigonometry of right-angled triangles, including problems involving direction and angles of elevation and depression.”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535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820A"/>
                </a:solidFill>
                <a:latin typeface="Calibr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54680"/>
            <a:ext cx="5989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3375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0F3D38"/>
                </a:solidFill>
                <a:latin typeface="Calibri"/>
              </a:rPr>
              <a:t>MATCHED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85032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38"/>
                </a:solidFill>
                <a:latin typeface="Cambria"/>
              </a:rPr>
              <a:t>SimuPhysics — Right-Triangle Ratio Simulator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14216"/>
            <a:ext cx="5532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B6B68"/>
                </a:solidFill>
                <a:latin typeface="Calibri"/>
              </a:rPr>
              <a:t>Keeps the hypotenuse fixed while students resize the triangle — showing sine, cosine and tangent depend only on the angle, not the triangle’s size.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37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820A"/>
                </a:solidFill>
                <a:latin typeface="Calibr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754880"/>
            <a:ext cx="5989320" cy="8686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9377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50" b="1">
                <a:solidFill>
                  <a:srgbClr val="0B2E2A"/>
                </a:solidFill>
                <a:latin typeface="Calibri"/>
              </a:rPr>
              <a:t>READY WORKSHEET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66944"/>
            <a:ext cx="5532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“Sine, Cosine and Tangent: Ratios Not Sizes” · ≈ 30 min · Year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737360"/>
            <a:ext cx="4663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9659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9820A"/>
                </a:solidFill>
                <a:latin typeface="Calibri"/>
              </a:rPr>
              <a:t>A 50-MINUTE LESSON, BUILT AROUND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235915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0F3D38"/>
                </a:solidFill>
                <a:latin typeface="Calibri"/>
              </a:rPr>
              <a:t>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34086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63347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B6B68"/>
                </a:solidFill>
                <a:latin typeface="Calibri"/>
              </a:rPr>
              <a:t>Show the fixed-hypotenuse triangle. Ask: will the ratios change if I resize it?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09067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0F3D38"/>
                </a:solidFill>
                <a:latin typeface="Calibri"/>
              </a:rPr>
              <a:t>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07238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36499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B6B68"/>
                </a:solidFill>
                <a:latin typeface="Calibri"/>
              </a:rPr>
              <a:t>Pairs drag the angle slider, log SOH–CAH–TOA values as the angle changes.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382219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0F3D38"/>
                </a:solidFill>
                <a:latin typeface="Calibri"/>
              </a:rPr>
              <a:t>10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8039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Formalise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09651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B6B68"/>
                </a:solidFill>
                <a:latin typeface="Calibri"/>
              </a:rPr>
              <a:t>Connect the pattern back to Pythagoras’ theorem and the three trig ratios.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23760" y="455371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0F3D38"/>
                </a:solidFill>
                <a:latin typeface="Calibri"/>
              </a:rPr>
              <a:t>15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5354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Practice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82803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B6B68"/>
                </a:solidFill>
                <a:latin typeface="Calibri"/>
              </a:rPr>
              <a:t>AI worksheet: elevation and depression word problems, same descriptor.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23760" y="5285232"/>
            <a:ext cx="685800" cy="310896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900" b="1">
                <a:solidFill>
                  <a:srgbClr val="0F3D38"/>
                </a:solidFill>
                <a:latin typeface="Calibri"/>
              </a:rPr>
              <a:t>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2669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3D38"/>
                </a:solidFill>
                <a:latin typeface="Calibri"/>
              </a:rPr>
              <a:t>Exit ticket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55955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80" b="0" i="0">
                <a:solidFill>
                  <a:srgbClr val="5B6B68"/>
                </a:solidFill>
                <a:latin typeface="Calibri"/>
              </a:rPr>
              <a:t>One right-triangle problem — find the missing angle or side.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3D38"/>
                </a:solidFill>
                <a:latin typeface="Cambria"/>
              </a:rPr>
              <a:t>Three ways in — pick the one that matches</a:t>
            </a:r>
          </a:p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0F3D38"/>
                </a:solidFill>
                <a:latin typeface="Cambria"/>
              </a:rPr>
              <a:t>how you're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005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7–10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8328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3D38"/>
                </a:solidFill>
                <a:latin typeface="Cambria"/>
              </a:rPr>
              <a:t>Years 7–10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8404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68"/>
                </a:solidFill>
                <a:latin typeface="Consolas"/>
              </a:rPr>
              <a:t>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F1B19"/>
                </a:solidFill>
                <a:latin typeface="Calibri"/>
              </a:rPr>
              <a:t>Filter by subject, year level, strand — or jump straight to one AC9 code, like AC9M10M03.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55778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0F3D38"/>
                </a:solidFill>
                <a:latin typeface="Calibri"/>
              </a:rPr>
              <a:t>BEST FOR: PLANNING A SPECIFIC AC9 LESSON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9160" y="2286000"/>
            <a:ext cx="868680" cy="868680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QCAA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38328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3D38"/>
                </a:solidFill>
                <a:latin typeface="Cambria"/>
              </a:rPr>
              <a:t>Senior Syllabus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8404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68"/>
                </a:solidFill>
                <a:latin typeface="Consolas"/>
              </a:rPr>
              <a:t>senior.html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206240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F1B19"/>
                </a:solidFill>
                <a:latin typeface="Calibri"/>
              </a:rPr>
              <a:t>Narrow by learning area, syllabus type, subject, then the exact unit or option you're teaching.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55778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0F3D38"/>
                </a:solidFill>
                <a:latin typeface="Calibri"/>
              </a:rPr>
              <a:t>BEST FOR: PLANNING A SENIOR QCAA 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965960"/>
            <a:ext cx="35204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286000"/>
            <a:ext cx="868680" cy="868680"/>
          </a:xfrm>
          <a:prstGeom prst="ellipse">
            <a:avLst/>
          </a:prstGeom>
          <a:solidFill>
            <a:srgbClr val="0F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mbria"/>
              </a:rPr>
              <a:t>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38328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3D38"/>
                </a:solidFill>
                <a:latin typeface="Cambria"/>
              </a:rPr>
              <a:t>Browse by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840479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B6B68"/>
                </a:solidFill>
                <a:latin typeface="Consolas"/>
              </a:rPr>
              <a:t>topics.html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206240"/>
            <a:ext cx="28803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0F1B19"/>
                </a:solidFill>
                <a:latin typeface="Calibri"/>
              </a:rPr>
              <a:t>Every simulation, grouped by field (Physics, Algebra...) or by provider — no curriculum needed.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557784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F4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050" b="1">
                <a:solidFill>
                  <a:srgbClr val="0F3D38"/>
                </a:solidFill>
                <a:latin typeface="Calibri"/>
              </a:rPr>
              <a:t>BEST FOR: EXPLORING BROADLY, OR BY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WALKTHROUGH · INDEX.HTML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Years 7–10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180" y="1480820"/>
            <a:ext cx="6675120" cy="2897187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dex_l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675120" cy="2897187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6" name="Oval 5"/>
          <p:cNvSpPr/>
          <p:nvPr/>
        </p:nvSpPr>
        <p:spPr>
          <a:xfrm>
            <a:off x="7635240" y="1554480"/>
            <a:ext cx="292608" cy="292608"/>
          </a:xfrm>
          <a:prstGeom prst="ellipse">
            <a:avLst/>
          </a:prstGeom>
          <a:solidFill>
            <a:srgbClr val="005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1536192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Filter by subject, year &amp; strand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938528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Combine freely — selecting just a subject still shows every relevant Year 7–10 result.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2542032"/>
            <a:ext cx="292608" cy="292608"/>
          </a:xfrm>
          <a:prstGeom prst="ellipse">
            <a:avLst/>
          </a:prstGeom>
          <a:solidFill>
            <a:srgbClr val="005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523744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Or jump straight to one descriptor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926080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Search “AC9M10M03” and see only what matches that exact code.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529584"/>
            <a:ext cx="292608" cy="292608"/>
          </a:xfrm>
          <a:prstGeom prst="ellipse">
            <a:avLst/>
          </a:prstGeom>
          <a:solidFill>
            <a:srgbClr val="005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51129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A live keyword glossary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913632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Sidebar counts how many simulations match each curriculum term, updating as you filter.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4517136"/>
            <a:ext cx="292608" cy="292608"/>
          </a:xfrm>
          <a:prstGeom prst="ellipse">
            <a:avLst/>
          </a:prstGeom>
          <a:solidFill>
            <a:srgbClr val="005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4498848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Click any keyword or CD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901184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On a card, or on a simulation's own page — always jumps back here, filtered.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WALKTHROUGH · SENIOR.HTML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Senior Syllabus 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180" y="1480820"/>
            <a:ext cx="6675120" cy="2897187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nior_l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675120" cy="2897187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6" name="Oval 5"/>
          <p:cNvSpPr/>
          <p:nvPr/>
        </p:nvSpPr>
        <p:spPr>
          <a:xfrm>
            <a:off x="7635240" y="1554480"/>
            <a:ext cx="292608" cy="292608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1536192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Narrow the QCAA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938528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Learning area → syllabus type → subject → unit/option → topic (e.g. “trigonometric functions”).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2542032"/>
            <a:ext cx="292608" cy="292608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523744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Filter by worksheet year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926080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See only simulations whose worksheet suits Year 7–8, 9–10, or Senior 11–12.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529584"/>
            <a:ext cx="292608" cy="292608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51129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Ranked by syllabus relevance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913632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Best-matching resource for the unit shown first, not just alphabetical.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4517136"/>
            <a:ext cx="292608" cy="292608"/>
          </a:xfrm>
          <a:prstGeom prst="ellipse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4498848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A senior list, not a junior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901184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Shared resources appear here with QCAA-specific matched topics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WALKTHROUGH · TOPICS.HTML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Browse by Topic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180" y="1480820"/>
            <a:ext cx="6675120" cy="2897187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pics_l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675120" cy="2897187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6" name="Oval 5"/>
          <p:cNvSpPr/>
          <p:nvPr/>
        </p:nvSpPr>
        <p:spPr>
          <a:xfrm>
            <a:off x="7635240" y="1554480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1536192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Independent of any one descriptor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938528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Grouped by field — Physics, Chemistry, Algebra &amp; Functions, Statistics &amp; Probability, and more.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2542032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523744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Click a provider to see its full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926080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Every card's source (PhET, GeoGebra, Desmos...) is a link — see everything from that provider instantly.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529584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51129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Good for cross-year 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913632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See every simulation touching a field before you commit to a specific descriptor.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4517136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4498848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The whole library, deduplicated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901184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Every simulation from both hubs, in one list, each shown once.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WALKTHROUGH · SIMULATION.HTML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Inside a Simulation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180" y="1480820"/>
            <a:ext cx="6675120" cy="2897187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mpage_l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675120" cy="2897187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6" name="Oval 5"/>
          <p:cNvSpPr/>
          <p:nvPr/>
        </p:nvSpPr>
        <p:spPr>
          <a:xfrm>
            <a:off x="7635240" y="1554480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4152" y="1536192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A screenshot, description &amp; “how to use it”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938528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Every one of the 93 simulations has hand- or AI-written classroom guidance — not just a bare link.</a:t>
            </a:r>
          </a:p>
        </p:txBody>
      </p:sp>
      <p:sp>
        <p:nvSpPr>
          <p:cNvPr id="9" name="Oval 8"/>
          <p:cNvSpPr/>
          <p:nvPr/>
        </p:nvSpPr>
        <p:spPr>
          <a:xfrm>
            <a:off x="7635240" y="2542032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523744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The QCAA topic tag is right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926080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“Algebra &amp; Functions” here — confirms it before you click through.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529584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3511296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Every chip links back to the hubs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913632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Keywords, AC9 descriptors and QCAA topics all jump to a pre-filtered hub page.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4517136"/>
            <a:ext cx="292608" cy="292608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4498848"/>
            <a:ext cx="349300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Recommended worksheet, right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4901184"/>
            <a:ext cx="3493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Preview in-page or download — see “Worksheets”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EVERY SIMULATION, READY TO TEACH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Worksheets: Real — or AI, Always Available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57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3D38"/>
                </a:solidFill>
                <a:latin typeface="Cambria"/>
              </a:rPr>
              <a:t>Sourced from the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B19"/>
                </a:solidFill>
                <a:latin typeface="Calibri"/>
              </a:rPr>
              <a:t>Where the simulation's own publisher (PhET, university labs, education agencies) offers a real worksheet or teacher guide, that's shown first — verified, not guessed.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F3D38"/>
                </a:solidFill>
                <a:latin typeface="Cambria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of 93 simulations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7ECDD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057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SECONDARY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6060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5C3C17"/>
                </a:solidFill>
                <a:latin typeface="Cambria"/>
              </a:rPr>
              <a:t>AI-generated, ≈ 30 minutes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5468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B19"/>
                </a:solidFill>
                <a:latin typeface="Calibri"/>
              </a:rPr>
              <a:t>Every simulation — with or without a real worksheet — also gets a curriculum-mapped task sheet, sized to fill a lesson, generated and reviewable in-page.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57200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8A5A2B"/>
                </a:solidFill>
                <a:latin typeface="Cambria"/>
              </a:rPr>
              <a:t>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4406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B68"/>
                </a:solidFill>
                <a:latin typeface="Calibri"/>
              </a:rPr>
              <a:t>of 93 simulations — 100%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080760"/>
            <a:ext cx="10744200" cy="457200"/>
          </a:xfrm>
          <a:prstGeom prst="roundRect">
            <a:avLst>
              <a:gd name="adj" fmla="val 30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190488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B4A12"/>
                </a:solidFill>
                <a:latin typeface="Calibri"/>
              </a:rPr>
              <a:t>⚠  AI-generated worksheets are clearly labelled on every page — always review before handing to students.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One click for a full light ↔ dark 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☀  Light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180" y="1846580"/>
            <a:ext cx="5349240" cy="2321718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dex_l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49240" cy="2321718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263640" y="1371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☾  Dark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1740" y="1846580"/>
            <a:ext cx="5349240" cy="2321718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dex_dark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5349240" cy="2321718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080" y="60350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8"/>
                </a:solidFill>
                <a:latin typeface="Calibri"/>
              </a:rPr>
              <a:t>Every page, every card, every form field and admin panel — not just a colour swap. Remembers your choice next visit.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FOR SITE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0F3D38"/>
                </a:solidFill>
                <a:latin typeface="Cambria"/>
              </a:rPr>
              <a:t>Found a Simulation? Add It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8180" y="1663700"/>
            <a:ext cx="5029200" cy="2357437"/>
          </a:xfrm>
          <a:prstGeom prst="roundRect">
            <a:avLst>
              <a:gd name="adj" fmla="val 2000"/>
            </a:avLst>
          </a:prstGeom>
          <a:solidFill>
            <a:srgbClr val="C7D9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dmin_form_light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029200" cy="2357437"/>
          </a:xfrm>
          <a:prstGeom prst="rect">
            <a:avLst/>
          </a:prstGeom>
          <a:ln w="12700">
            <a:solidFill>
              <a:srgbClr val="D7EBE7"/>
            </a:solidFill>
          </a:ln>
        </p:spPr>
      </p:pic>
      <p:sp>
        <p:nvSpPr>
          <p:cNvPr id="6" name="Oval 5"/>
          <p:cNvSpPr/>
          <p:nvPr/>
        </p:nvSpPr>
        <p:spPr>
          <a:xfrm>
            <a:off x="6172200" y="169164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2E2A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7335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38"/>
                </a:solidFill>
                <a:latin typeface="Cambria"/>
              </a:rPr>
              <a:t>Open with ?admin=1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20824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A hidden “+ Add simulation” button appears — invisible to regular visitors.</a:t>
            </a:r>
          </a:p>
        </p:txBody>
      </p:sp>
      <p:sp>
        <p:nvSpPr>
          <p:cNvPr id="9" name="Oval 8"/>
          <p:cNvSpPr/>
          <p:nvPr/>
        </p:nvSpPr>
        <p:spPr>
          <a:xfrm>
            <a:off x="6172200" y="2679192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2E2A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6090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38"/>
                </a:solidFill>
                <a:latin typeface="Cambria"/>
              </a:rPr>
              <a:t>Paste the name &amp;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08376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Keyword tags are auto-suggested by matching against the same curriculum vocabulary the whole site uses.</a:t>
            </a:r>
          </a:p>
        </p:txBody>
      </p:sp>
      <p:sp>
        <p:nvSpPr>
          <p:cNvPr id="12" name="Oval 11"/>
          <p:cNvSpPr/>
          <p:nvPr/>
        </p:nvSpPr>
        <p:spPr>
          <a:xfrm>
            <a:off x="6172200" y="3666744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2E2A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4845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38"/>
                </a:solidFill>
                <a:latin typeface="Cambria"/>
              </a:rPr>
              <a:t>Review, then save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995928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Nothing is added automatically — you confirm or adjust the suggested tags and category first.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4654296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2E2A"/>
                </a:solidFill>
                <a:latin typeface="Cambr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63600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38"/>
                </a:solidFill>
                <a:latin typeface="Cambria"/>
              </a:rPr>
              <a:t>Export to make it permanent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983480"/>
            <a:ext cx="5120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B6B68"/>
                </a:solidFill>
                <a:latin typeface="Calibri"/>
              </a:rPr>
              <a:t>Saved locally in your browser until you export the generated code back into the 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WHEN NOTHING FREE &amp; GOOD EXISTED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Four Simulations, Built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B6B68"/>
                </a:solidFill>
                <a:latin typeface="Calibri"/>
              </a:rPr>
              <a:t>Some QCAA gaps had no decent free simulation anywhere — so these were built directly, in the same conversational workflow as the rest of the 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587752" cy="352044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2221992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2E2A"/>
                </a:solidFill>
                <a:latin typeface="Cambria"/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Chain &amp;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749040"/>
            <a:ext cx="207568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B19"/>
                </a:solidFill>
                <a:latin typeface="Calibri"/>
              </a:rPr>
              <a:t>Maths Methods — catenary vs. parabola, live curve-fitting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1965960"/>
            <a:ext cx="2587752" cy="352044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66744" y="2221992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2E2A"/>
                </a:solidFill>
                <a:latin typeface="Cambria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6744" y="2880360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DC Circuits &amp;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Ohm's Law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3749040"/>
            <a:ext cx="207568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B19"/>
                </a:solidFill>
                <a:latin typeface="Calibri"/>
              </a:rPr>
              <a:t>Physics — series/parallel circuits, voltmeter &amp; ammeter probes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65960"/>
            <a:ext cx="2587752" cy="352044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7376" y="2221992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2E2A"/>
                </a:solidFill>
                <a:latin typeface="Cambria"/>
              </a:rP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880360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Heating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Processes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749040"/>
            <a:ext cx="207568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B19"/>
                </a:solidFill>
                <a:latin typeface="Calibri"/>
              </a:rPr>
              <a:t>Physics Unit 1 — heating curves, thermal equilibrium, black-body radiation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1976" y="1965960"/>
            <a:ext cx="2587752" cy="3520440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08008" y="2221992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2E2A"/>
                </a:solidFill>
                <a:latin typeface="Cambria"/>
              </a:rPr>
              <a:t>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8" y="2880360"/>
            <a:ext cx="20756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Ionising Radiation</a:t>
            </a:r>
          </a:p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0F3D38"/>
                </a:solidFill>
                <a:latin typeface="Cambria"/>
              </a:rPr>
              <a:t>&amp; Nuclear Reactions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749040"/>
            <a:ext cx="207568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F1B19"/>
                </a:solidFill>
                <a:latin typeface="Calibri"/>
              </a:rPr>
              <a:t>Physics Unit 1 — decay, half-life, shielding, fission &amp;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A623"/>
                </a:solidFill>
                <a:latin typeface="Calibri"/>
              </a:rPr>
              <a:t>HOW THIS ACTUALLY GETS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Built 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7F4F1"/>
                </a:solidFill>
                <a:latin typeface="Calibri"/>
              </a:rPr>
              <a:t>Every filter, every fix, every new simulation on this site was built through plain-language conversation — then tested and deployed the same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Cambria"/>
              </a:rPr>
              <a:t>1 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7F4F1"/>
                </a:solidFill>
                <a:latin typeface="Calibri"/>
              </a:rPr>
              <a:t>Describe what's needed in plain English — a feature, a bug, a new simulation to map.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260604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7889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Cambria"/>
              </a:rPr>
              <a:t>2  Build &amp;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320040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7F4F1"/>
                </a:solidFill>
                <a:latin typeface="Calibri"/>
              </a:rPr>
              <a:t>Claude Code writes it, opens the real site in a browser, and checks it actually works.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27264" y="2606040"/>
            <a:ext cx="3429000" cy="155448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01584" y="27889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5A623"/>
                </a:solidFill>
                <a:latin typeface="Cambria"/>
              </a:rPr>
              <a:t>3 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4" y="3200400"/>
            <a:ext cx="2880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7F4F1"/>
                </a:solidFill>
                <a:latin typeface="Calibri"/>
              </a:rPr>
              <a:t>Pushed straight to this live, free GitHub Pages site — no separate release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34840"/>
            <a:ext cx="10881360" cy="1508760"/>
          </a:xfrm>
          <a:prstGeom prst="roundRect">
            <a:avLst>
              <a:gd name="adj" fmla="val 8000"/>
            </a:avLst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5A623"/>
                </a:solidFill>
                <a:latin typeface="Calibri"/>
              </a:rPr>
              <a:t>THIS WEEK, FOR 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A routine usability pass — done as part of preparing this presentation — found that AC9M10M03 (the trigonometry descriptor from slide 5) was missing its own keyword, so the site's tag-matching couldn't find it. Fixed and pushed live the same day. That's the normal rhythm: this is a living site, not a one-off release.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FD4C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This Is Version Now, Not Version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B68"/>
                </a:solidFill>
                <a:latin typeface="Calibri"/>
              </a:rPr>
              <a:t>Curriculum gap analysis already flags exactly what's still thin — that becomes the next thing built: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1226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Mathematical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12264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8"/>
                </a:solidFill>
                <a:latin typeface="Calibri"/>
              </a:rPr>
              <a:t>derivatives · integration · surds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61488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Specialist 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07792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8"/>
                </a:solidFill>
                <a:latin typeface="Calibri"/>
              </a:rPr>
              <a:t>combinatorics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57016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Physics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033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8"/>
                </a:solidFill>
                <a:latin typeface="Calibri"/>
              </a:rPr>
              <a:t>the standard model (Unit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52544"/>
            <a:ext cx="10881360" cy="658368"/>
          </a:xfrm>
          <a:prstGeom prst="roundRect">
            <a:avLst>
              <a:gd name="adj" fmla="val 6000"/>
            </a:avLst>
          </a:prstGeom>
          <a:solidFill>
            <a:srgbClr val="F4FAF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F3D38"/>
                </a:solidFill>
                <a:latin typeface="Calibri"/>
              </a:rPr>
              <a:t>General Mathematics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49884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B68"/>
                </a:solidFill>
                <a:latin typeface="Calibri"/>
              </a:rPr>
              <a:t>sequences · investing &amp; annuities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0F1B19"/>
                </a:solidFill>
                <a:latin typeface="Calibri"/>
              </a:rPr>
              <a:t>Plus: more bespoke Claude-built simulations where free options fall short, continued worksheet coverage, and ongoing usability passes like the one behind this deck.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4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9820A"/>
                </a:solidFill>
                <a:latin typeface="Calibri"/>
              </a:rPr>
              <a:t>THIS ONLY GETS BETTER WITH YOUR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50392"/>
            <a:ext cx="8686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F3D38"/>
                </a:solidFill>
                <a:latin typeface="Cambria"/>
              </a:rPr>
              <a:t>Get Involved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1051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Found a good simulation?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94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B68"/>
                </a:solidFill>
                <a:latin typeface="Calibri"/>
              </a:rPr>
              <a:t>Send it through the Contact page, or add it yourself via the admin panel.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80360"/>
            <a:ext cx="502920" cy="50292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6207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Spot something broken?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461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B68"/>
                </a:solidFill>
                <a:latin typeface="Calibri"/>
              </a:rPr>
              <a:t>A dead link, a wrong mapping, a display glitch — flag it and it gets fixed, usually the same week.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31920"/>
            <a:ext cx="502920" cy="50292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9136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3D38"/>
                </a:solidFill>
                <a:latin typeface="Cambria"/>
              </a:rPr>
              <a:t>Have a gap in mind?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976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B6B68"/>
                </a:solidFill>
                <a:latin typeface="Calibri"/>
              </a:rPr>
              <a:t>Tell us which AC9 descriptor or QCAA unit still has nothing good — it goes straight onto the roadmap.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0F3D38"/>
          </a:solidFill>
          <a:ln w="9525">
            <a:solidFill>
              <a:srgbClr val="D7EB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hjkim0@eq.edu.au  ·  or the Contact page on the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E7F4F1"/>
                </a:solidFill>
                <a:latin typeface="Calibri"/>
              </a:rPr>
              <a:t>Feedback shapes what gets built next.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B6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2377440"/>
            <a:ext cx="5943600" cy="5943600"/>
          </a:xfrm>
          <a:prstGeom prst="ellipse">
            <a:avLst/>
          </a:prstGeom>
          <a:solidFill>
            <a:srgbClr val="0F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560320" y="-2560320"/>
            <a:ext cx="4572000" cy="4572000"/>
          </a:xfrm>
          <a:prstGeom prst="ellipse">
            <a:avLst/>
          </a:prstGeom>
          <a:solidFill>
            <a:srgbClr val="16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7F4F1"/>
                </a:solidFill>
                <a:latin typeface="Calibri"/>
              </a:rPr>
              <a:t>Questions — or things you'd like to see added?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114800"/>
            <a:ext cx="630936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0" bIns="0"/>
          <a:lstStyle/>
          <a:p>
            <a:pPr algn="ctr"/>
            <a:r>
              <a:rPr sz="1300" b="1">
                <a:solidFill>
                  <a:srgbClr val="0B2E2A"/>
                </a:solidFill>
                <a:latin typeface="Calibri"/>
              </a:rPr>
              <a:t>HKIM2804-BEEP.GITHUB.IO/STEM-SIMULATION-HUB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46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FD4CC"/>
                </a:solidFill>
                <a:latin typeface="Calibri"/>
              </a:rPr>
              <a:t>Free · no login · updated continuously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AFD4C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